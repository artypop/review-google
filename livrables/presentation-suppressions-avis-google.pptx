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Tous les avis</c:v>
                </c:pt>
              </c:strCache>
            </c:strRef>
          </c:tx>
          <c:spPr>
            <a:solidFill>
              <a:srgbClr val="B9B8B3"/>
            </a:solidFill>
          </c:spPr>
          <c:cat>
            <c:strRef>
              <c:f>Sheet1!$A$2:$A$5</c:f>
              <c:strCache>
                <c:ptCount val="4"/>
                <c:pt idx="0">
                  <c:v>2026</c:v>
                </c:pt>
                <c:pt idx="1">
                  <c:v>2025</c:v>
                </c:pt>
                <c:pt idx="2">
                  <c:v>2024</c:v>
                </c:pt>
                <c:pt idx="3">
                  <c:v>2023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63.0</c:v>
                </c:pt>
                <c:pt idx="1">
                  <c:v>7.2</c:v>
                </c:pt>
                <c:pt idx="2">
                  <c:v>5.8</c:v>
                </c:pt>
                <c:pt idx="3">
                  <c:v>3.7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Sans les six enseignes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Sheet1!$A$2:$A$5</c:f>
              <c:strCache>
                <c:ptCount val="4"/>
                <c:pt idx="0">
                  <c:v>2026</c:v>
                </c:pt>
                <c:pt idx="1">
                  <c:v>2025</c:v>
                </c:pt>
                <c:pt idx="2">
                  <c:v>2024</c:v>
                </c:pt>
                <c:pt idx="3">
                  <c:v>2023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42.9</c:v>
                </c:pt>
                <c:pt idx="1">
                  <c:v>5.1</c:v>
                </c:pt>
                <c:pt idx="2">
                  <c:v>3.8</c:v>
                </c:pt>
                <c:pt idx="3">
                  <c:v>3.0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0B0B0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DCD7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Tous les avis</c:v>
                </c:pt>
              </c:strCache>
            </c:strRef>
          </c:tx>
          <c:spPr>
            <a:solidFill>
              <a:srgbClr val="B9B8B3"/>
            </a:solidFill>
          </c:spPr>
          <c:cat>
            <c:strRef>
              <c:f>Sheet1!$A$2:$A$5</c:f>
              <c:strCache>
                <c:ptCount val="4"/>
                <c:pt idx="0">
                  <c:v>1 à 8 jours</c:v>
                </c:pt>
                <c:pt idx="1">
                  <c:v>le 7e jour seul</c:v>
                </c:pt>
                <c:pt idx="2">
                  <c:v>9 jours et plus</c:v>
                </c:pt>
                <c:pt idx="3">
                  <c:v>le 30e jour seul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48.5</c:v>
                </c:pt>
                <c:pt idx="1">
                  <c:v>136.6</c:v>
                </c:pt>
                <c:pt idx="2">
                  <c:v>14.5</c:v>
                </c:pt>
                <c:pt idx="3">
                  <c:v>3.7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Sans les six enseignes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Sheet1!$A$2:$A$5</c:f>
              <c:strCache>
                <c:ptCount val="4"/>
                <c:pt idx="0">
                  <c:v>1 à 8 jours</c:v>
                </c:pt>
                <c:pt idx="1">
                  <c:v>le 7e jour seul</c:v>
                </c:pt>
                <c:pt idx="2">
                  <c:v>9 jours et plus</c:v>
                </c:pt>
                <c:pt idx="3">
                  <c:v>le 30e jour seul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35.1</c:v>
                </c:pt>
                <c:pt idx="1">
                  <c:v>84.3</c:v>
                </c:pt>
                <c:pt idx="2">
                  <c:v>8.3</c:v>
                </c:pt>
                <c:pt idx="3">
                  <c:v>3.9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0B0B0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DCD7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 des suppressions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Sheet1!$A$2:$A$8</c:f>
              <c:strCache>
                <c:ptCount val="7"/>
                <c:pt idx="0">
                  <c:v>1 fiche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50</c:v>
                </c:pt>
                <c:pt idx="5">
                  <c:v>100</c:v>
                </c:pt>
                <c:pt idx="6">
                  <c:v>200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3.7</c:v>
                </c:pt>
                <c:pt idx="1">
                  <c:v>11.4</c:v>
                </c:pt>
                <c:pt idx="2">
                  <c:v>18.8</c:v>
                </c:pt>
                <c:pt idx="3">
                  <c:v>29.1</c:v>
                </c:pt>
                <c:pt idx="4">
                  <c:v>50.6</c:v>
                </c:pt>
                <c:pt idx="5">
                  <c:v>69.8</c:v>
                </c:pt>
                <c:pt idx="6">
                  <c:v>82.9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 des avis de ces fiches</c:v>
                </c:pt>
              </c:strCache>
            </c:strRef>
          </c:tx>
          <c:spPr>
            <a:solidFill>
              <a:srgbClr val="B9B8B3"/>
            </a:solidFill>
          </c:spPr>
          <c:cat>
            <c:strRef>
              <c:f>Sheet1!$A$2:$A$8</c:f>
              <c:strCache>
                <c:ptCount val="7"/>
                <c:pt idx="0">
                  <c:v>1 fiche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50</c:v>
                </c:pt>
                <c:pt idx="5">
                  <c:v>100</c:v>
                </c:pt>
                <c:pt idx="6">
                  <c:v>200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0.2</c:v>
                </c:pt>
                <c:pt idx="1">
                  <c:v>0.9</c:v>
                </c:pt>
                <c:pt idx="2">
                  <c:v>1.5</c:v>
                </c:pt>
                <c:pt idx="3">
                  <c:v>2.3</c:v>
                </c:pt>
                <c:pt idx="4">
                  <c:v>4.5</c:v>
                </c:pt>
                <c:pt idx="5">
                  <c:v>8.4</c:v>
                </c:pt>
                <c:pt idx="6">
                  <c:v>17.2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0B0B0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DCD7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Avis revenus pour un million d'avis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Sheet1!$A$2:$A$8</c:f>
              <c:strCache>
                <c:ptCount val="7"/>
                <c:pt idx="0">
                  <c:v>Automobile</c:v>
                </c:pt>
                <c:pt idx="1">
                  <c:v>Services à domicile</c:v>
                </c:pt>
                <c:pt idx="2">
                  <c:v>Santé</c:v>
                </c:pt>
                <c:pt idx="3">
                  <c:v>Sport et bien-être</c:v>
                </c:pt>
                <c:pt idx="4">
                  <c:v>Restauration</c:v>
                </c:pt>
                <c:pt idx="5">
                  <c:v>Voyage</c:v>
                </c:pt>
                <c:pt idx="6">
                  <c:v>Hôtellerie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199</c:v>
                </c:pt>
                <c:pt idx="1">
                  <c:v>166</c:v>
                </c:pt>
                <c:pt idx="2">
                  <c:v>159</c:v>
                </c:pt>
                <c:pt idx="3">
                  <c:v>141</c:v>
                </c:pt>
                <c:pt idx="4">
                  <c:v>77</c:v>
                </c:pt>
                <c:pt idx="5">
                  <c:v>64</c:v>
                </c:pt>
                <c:pt idx="6">
                  <c:v>46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0B0B0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DCD7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États-Unis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Sheet1!$A$2:$A$8</c:f>
              <c:strCache>
                <c:ptCount val="7"/>
                <c:pt idx="0">
                  <c:v>Services à domicile</c:v>
                </c:pt>
                <c:pt idx="1">
                  <c:v>Sport et bien-être</c:v>
                </c:pt>
                <c:pt idx="2">
                  <c:v>Santé</c:v>
                </c:pt>
                <c:pt idx="3">
                  <c:v>Voyage</c:v>
                </c:pt>
                <c:pt idx="4">
                  <c:v>Automobile</c:v>
                </c:pt>
                <c:pt idx="5">
                  <c:v>Restauration</c:v>
                </c:pt>
                <c:pt idx="6">
                  <c:v>Hôtellerie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24.7</c:v>
                </c:pt>
                <c:pt idx="1">
                  <c:v>10.4</c:v>
                </c:pt>
                <c:pt idx="2">
                  <c:v>11.7</c:v>
                </c:pt>
                <c:pt idx="3">
                  <c:v>9.4</c:v>
                </c:pt>
                <c:pt idx="4">
                  <c:v>6.8</c:v>
                </c:pt>
                <c:pt idx="5">
                  <c:v>3.3</c:v>
                </c:pt>
                <c:pt idx="6">
                  <c:v>3.2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Sheet1!$A$2:$A$8</c:f>
              <c:strCache>
                <c:ptCount val="7"/>
                <c:pt idx="0">
                  <c:v>Services à domicile</c:v>
                </c:pt>
                <c:pt idx="1">
                  <c:v>Sport et bien-être</c:v>
                </c:pt>
                <c:pt idx="2">
                  <c:v>Santé</c:v>
                </c:pt>
                <c:pt idx="3">
                  <c:v>Voyage</c:v>
                </c:pt>
                <c:pt idx="4">
                  <c:v>Automobile</c:v>
                </c:pt>
                <c:pt idx="5">
                  <c:v>Restauration</c:v>
                </c:pt>
                <c:pt idx="6">
                  <c:v>Hôtellerie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4.0</c:v>
                </c:pt>
                <c:pt idx="1">
                  <c:v>6.5</c:v>
                </c:pt>
                <c:pt idx="2">
                  <c:v>5.0</c:v>
                </c:pt>
                <c:pt idx="3">
                  <c:v>10.7</c:v>
                </c:pt>
                <c:pt idx="4">
                  <c:v>4.2</c:v>
                </c:pt>
                <c:pt idx="5">
                  <c:v>3.4</c:v>
                </c:pt>
                <c:pt idx="6">
                  <c:v>3.6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0B0B0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DCD7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B0B0B"/>
                </a:solidFill>
              </a:rPr>
              <a:t>États-Unis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Tous</c:v>
                </c:pt>
              </c:strCache>
            </c:strRef>
          </c:tx>
          <c:spPr>
            <a:solidFill>
              <a:srgbClr val="B9B8B3"/>
            </a:solidFill>
          </c:spPr>
          <c:cat>
            <c:strRef>
              <c:f>Sheet1!$A$2:$A$6</c:f>
              <c:strCache>
                <c:ptCount val="5"/>
                <c:pt idx="0">
                  <c:v>1 étoile</c:v>
                </c:pt>
                <c:pt idx="1">
                  <c:v>2 étoiles</c:v>
                </c:pt>
                <c:pt idx="2">
                  <c:v>3 étoiles</c:v>
                </c:pt>
                <c:pt idx="3">
                  <c:v>4 étoiles</c:v>
                </c:pt>
                <c:pt idx="4">
                  <c:v>5 étoiles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842</c:v>
                </c:pt>
                <c:pt idx="1">
                  <c:v>444</c:v>
                </c:pt>
                <c:pt idx="2">
                  <c:v>164</c:v>
                </c:pt>
                <c:pt idx="3">
                  <c:v>288</c:v>
                </c:pt>
                <c:pt idx="4">
                  <c:v>529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Sans enseignes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Sheet1!$A$2:$A$6</c:f>
              <c:strCache>
                <c:ptCount val="5"/>
                <c:pt idx="0">
                  <c:v>1 étoile</c:v>
                </c:pt>
                <c:pt idx="1">
                  <c:v>2 étoiles</c:v>
                </c:pt>
                <c:pt idx="2">
                  <c:v>3 étoiles</c:v>
                </c:pt>
                <c:pt idx="3">
                  <c:v>4 étoiles</c:v>
                </c:pt>
                <c:pt idx="4">
                  <c:v>5 étoiles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807</c:v>
                </c:pt>
                <c:pt idx="1">
                  <c:v>421</c:v>
                </c:pt>
                <c:pt idx="2">
                  <c:v>142</c:v>
                </c:pt>
                <c:pt idx="3">
                  <c:v>166</c:v>
                </c:pt>
                <c:pt idx="4">
                  <c:v>320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0B0B0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DCD7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B0B0B"/>
                </a:solidFill>
              </a:rPr>
              <a:t>Europe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Tous</c:v>
                </c:pt>
              </c:strCache>
            </c:strRef>
          </c:tx>
          <c:spPr>
            <a:solidFill>
              <a:srgbClr val="B9B8B3"/>
            </a:solidFill>
          </c:spPr>
          <c:cat>
            <c:strRef>
              <c:f>Sheet1!$A$2:$A$6</c:f>
              <c:strCache>
                <c:ptCount val="5"/>
                <c:pt idx="0">
                  <c:v>1 étoile</c:v>
                </c:pt>
                <c:pt idx="1">
                  <c:v>2 étoiles</c:v>
                </c:pt>
                <c:pt idx="2">
                  <c:v>3 étoiles</c:v>
                </c:pt>
                <c:pt idx="3">
                  <c:v>4 étoiles</c:v>
                </c:pt>
                <c:pt idx="4">
                  <c:v>5 étoiles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631</c:v>
                </c:pt>
                <c:pt idx="1">
                  <c:v>324</c:v>
                </c:pt>
                <c:pt idx="2">
                  <c:v>72</c:v>
                </c:pt>
                <c:pt idx="3">
                  <c:v>88</c:v>
                </c:pt>
                <c:pt idx="4">
                  <c:v>163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Sans enseignes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Sheet1!$A$2:$A$6</c:f>
              <c:strCache>
                <c:ptCount val="5"/>
                <c:pt idx="0">
                  <c:v>1 étoile</c:v>
                </c:pt>
                <c:pt idx="1">
                  <c:v>2 étoiles</c:v>
                </c:pt>
                <c:pt idx="2">
                  <c:v>3 étoiles</c:v>
                </c:pt>
                <c:pt idx="3">
                  <c:v>4 étoiles</c:v>
                </c:pt>
                <c:pt idx="4">
                  <c:v>5 étoiles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514</c:v>
                </c:pt>
                <c:pt idx="1">
                  <c:v>207</c:v>
                </c:pt>
                <c:pt idx="2">
                  <c:v>72</c:v>
                </c:pt>
                <c:pt idx="3">
                  <c:v>88</c:v>
                </c:pt>
                <c:pt idx="4">
                  <c:v>163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0B0B0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DCD7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B0B0B"/>
                </a:solidFill>
              </a:rPr>
              <a:t>Niveau Local Guide de l'auteur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États-Unis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Sheet1!$A$2:$A$4</c:f>
              <c:strCache>
                <c:ptCount val="3"/>
                <c:pt idx="0">
                  <c:v>sans niveau</c:v>
                </c:pt>
                <c:pt idx="1">
                  <c:v>niveau 1 à 4</c:v>
                </c:pt>
                <c:pt idx="2">
                  <c:v>niveau 5 et plus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634</c:v>
                </c:pt>
                <c:pt idx="1">
                  <c:v>350</c:v>
                </c:pt>
                <c:pt idx="2">
                  <c:v>139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Sheet1!$A$2:$A$4</c:f>
              <c:strCache>
                <c:ptCount val="3"/>
                <c:pt idx="0">
                  <c:v>sans niveau</c:v>
                </c:pt>
                <c:pt idx="1">
                  <c:v>niveau 1 à 4</c:v>
                </c:pt>
                <c:pt idx="2">
                  <c:v>niveau 5 et plus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551</c:v>
                </c:pt>
                <c:pt idx="1">
                  <c:v>177</c:v>
                </c:pt>
                <c:pt idx="2">
                  <c:v>93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0B0B0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DCD7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B0B0B"/>
                </a:solidFill>
              </a:rPr>
              <a:t>Photos publiées par l'auteur sur son profil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États-Unis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1 à 5</c:v>
                </c:pt>
                <c:pt idx="2">
                  <c:v>6 à 20</c:v>
                </c:pt>
                <c:pt idx="3">
                  <c:v>21 à 100</c:v>
                </c:pt>
                <c:pt idx="4">
                  <c:v>plus de 100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397</c:v>
                </c:pt>
                <c:pt idx="1">
                  <c:v>304</c:v>
                </c:pt>
                <c:pt idx="2">
                  <c:v>272</c:v>
                </c:pt>
                <c:pt idx="3">
                  <c:v>68</c:v>
                </c:pt>
                <c:pt idx="4">
                  <c:v>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1 à 5</c:v>
                </c:pt>
                <c:pt idx="2">
                  <c:v>6 à 20</c:v>
                </c:pt>
                <c:pt idx="3">
                  <c:v>21 à 100</c:v>
                </c:pt>
                <c:pt idx="4">
                  <c:v>plus de 100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211</c:v>
                </c:pt>
                <c:pt idx="1">
                  <c:v>212</c:v>
                </c:pt>
                <c:pt idx="2">
                  <c:v>125</c:v>
                </c:pt>
                <c:pt idx="3">
                  <c:v>83</c:v>
                </c:pt>
                <c:pt idx="4">
                  <c:v>69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0B0B0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DCD7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Suppressions constatées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Sheet1!$A$2:$A$9</c:f>
              <c:strCache>
                <c:ptCount val="8"/>
                <c:pt idx="0">
                  <c:v>1 étoile : voiture, location, garantie</c:v>
                </c:pt>
                <c:pt idx="1">
                  <c:v>1 étoile : restaurant et hôtel</c:v>
                </c:pt>
                <c:pt idx="2">
                  <c:v>1 étoile : plaintes courtes</c:v>
                </c:pt>
                <c:pt idx="3">
                  <c:v>1 étoile : soins vétérinaires et médicaux</c:v>
                </c:pt>
                <c:pt idx="4">
                  <c:v>5 étoiles : récit détaillé d'une prestation</c:v>
                </c:pt>
                <c:pt idx="5">
                  <c:v>5 étoiles : éloge court du service</c:v>
                </c:pt>
                <c:pt idx="6">
                  <c:v>5 étoiles : éloge très court</c:v>
                </c:pt>
                <c:pt idx="7">
                  <c:v>5 étoiles : loisirs, restaurants, séjours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41</c:v>
                </c:pt>
                <c:pt idx="1">
                  <c:v>16</c:v>
                </c:pt>
                <c:pt idx="2">
                  <c:v>13</c:v>
                </c:pt>
                <c:pt idx="3">
                  <c:v>13</c:v>
                </c:pt>
                <c:pt idx="4">
                  <c:v>139</c:v>
                </c:pt>
                <c:pt idx="5">
                  <c:v>105</c:v>
                </c:pt>
                <c:pt idx="6">
                  <c:v>58</c:v>
                </c:pt>
                <c:pt idx="7">
                  <c:v>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Attendues d'après le secteur</c:v>
                </c:pt>
              </c:strCache>
            </c:strRef>
          </c:tx>
          <c:spPr>
            <a:solidFill>
              <a:srgbClr val="B9B8B3"/>
            </a:solidFill>
          </c:spPr>
          <c:cat>
            <c:strRef>
              <c:f>Sheet1!$A$2:$A$9</c:f>
              <c:strCache>
                <c:ptCount val="8"/>
                <c:pt idx="0">
                  <c:v>1 étoile : voiture, location, garantie</c:v>
                </c:pt>
                <c:pt idx="1">
                  <c:v>1 étoile : restaurant et hôtel</c:v>
                </c:pt>
                <c:pt idx="2">
                  <c:v>1 étoile : plaintes courtes</c:v>
                </c:pt>
                <c:pt idx="3">
                  <c:v>1 étoile : soins vétérinaires et médicaux</c:v>
                </c:pt>
                <c:pt idx="4">
                  <c:v>5 étoiles : récit détaillé d'une prestation</c:v>
                </c:pt>
                <c:pt idx="5">
                  <c:v>5 étoiles : éloge court du service</c:v>
                </c:pt>
                <c:pt idx="6">
                  <c:v>5 étoiles : éloge très court</c:v>
                </c:pt>
                <c:pt idx="7">
                  <c:v>5 étoiles : loisirs, restaurants, séjours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37</c:v>
                </c:pt>
                <c:pt idx="1">
                  <c:v>19</c:v>
                </c:pt>
                <c:pt idx="2">
                  <c:v>13</c:v>
                </c:pt>
                <c:pt idx="3">
                  <c:v>14</c:v>
                </c:pt>
                <c:pt idx="4">
                  <c:v>144</c:v>
                </c:pt>
                <c:pt idx="5">
                  <c:v>99</c:v>
                </c:pt>
                <c:pt idx="6">
                  <c:v>48</c:v>
                </c:pt>
                <c:pt idx="7">
                  <c:v>58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0B0B0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DCD7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Tous les avis</c:v>
                </c:pt>
              </c:strCache>
            </c:strRef>
          </c:tx>
          <c:spPr>
            <a:solidFill>
              <a:srgbClr val="B9B8B3"/>
            </a:solidFill>
          </c:spPr>
          <c:cat>
            <c:strRef>
              <c:f>Sheet1!$A$2:$A$5</c:f>
              <c:strCache>
                <c:ptCount val="4"/>
                <c:pt idx="0">
                  <c:v>Copie</c:v>
                </c:pt>
                <c:pt idx="1">
                  <c:v>Quasi-copie</c:v>
                </c:pt>
                <c:pt idx="2">
                  <c:v>Même sujet</c:v>
                </c:pt>
                <c:pt idx="3">
                  <c:v>Aucun texte proche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61.9</c:v>
                </c:pt>
                <c:pt idx="1">
                  <c:v>20.9</c:v>
                </c:pt>
                <c:pt idx="2">
                  <c:v>4.2</c:v>
                </c:pt>
                <c:pt idx="3">
                  <c:v>3.6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Sans les six enseignes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Sheet1!$A$2:$A$5</c:f>
              <c:strCache>
                <c:ptCount val="4"/>
                <c:pt idx="0">
                  <c:v>Copie</c:v>
                </c:pt>
                <c:pt idx="1">
                  <c:v>Quasi-copie</c:v>
                </c:pt>
                <c:pt idx="2">
                  <c:v>Même sujet</c:v>
                </c:pt>
                <c:pt idx="3">
                  <c:v>Aucun texte proche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50.0</c:v>
                </c:pt>
                <c:pt idx="1">
                  <c:v>19.5</c:v>
                </c:pt>
                <c:pt idx="2">
                  <c:v>3.6</c:v>
                </c:pt>
                <c:pt idx="3">
                  <c:v>2.7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0B0B0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DCD7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Sans prénom</c:v>
                </c:pt>
              </c:strCache>
            </c:strRef>
          </c:tx>
          <c:spPr>
            <a:solidFill>
              <a:srgbClr val="B9B8B3"/>
            </a:solidFill>
          </c:spPr>
          <c:cat>
            <c:strRef>
              <c:f>Sheet1!$A$2:$A$4</c:f>
              <c:strCache>
                <c:ptCount val="3"/>
                <c:pt idx="0">
                  <c:v>5 étoiles, sans enseignes</c:v>
                </c:pt>
                <c:pt idx="1">
                  <c:v>1 étoile, sans enseignes</c:v>
                </c:pt>
                <c:pt idx="2">
                  <c:v>5 étoiles, tous les avis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272</c:v>
                </c:pt>
                <c:pt idx="1">
                  <c:v>807</c:v>
                </c:pt>
                <c:pt idx="2">
                  <c:v>422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Avec prénom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Sheet1!$A$2:$A$4</c:f>
              <c:strCache>
                <c:ptCount val="3"/>
                <c:pt idx="0">
                  <c:v>5 étoiles, sans enseignes</c:v>
                </c:pt>
                <c:pt idx="1">
                  <c:v>1 étoile, sans enseignes</c:v>
                </c:pt>
                <c:pt idx="2">
                  <c:v>5 étoiles, tous les avis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387</c:v>
                </c:pt>
                <c:pt idx="1">
                  <c:v>766</c:v>
                </c:pt>
                <c:pt idx="2">
                  <c:v>611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0B0B0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DCD7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103120"/>
            <a:ext cx="109728" cy="173736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0B0B0B"/>
                </a:solidFill>
                <a:latin typeface="Calibri"/>
              </a:rPr>
              <a:t>Suppressions d'avis Google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52514E"/>
                </a:solidFill>
                <a:latin typeface="Calibri"/>
              </a:rPr>
              <a:t>Quelles caractéristiques d'un avis vont avec sa suppression : la note, l'auteur, le secteur, l'âge de l'avis, le texte, la réponse du propriétaire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ReviewFlowz — étude pour Axel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Chiffres des 29 et 30 septembre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82296" cy="56692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8658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0B0B"/>
                </a:solidFill>
                <a:latin typeface="Calibri"/>
              </a:rPr>
              <a:t>Les résultats en huit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8658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Chaque chiffre est donné sans les six enseignes signalées ; la version avec enseignes figure dans les diapositives de détail.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291072"/>
            <a:ext cx="11094415" cy="9144"/>
          </a:xfrm>
          <a:prstGeom prst="rect">
            <a:avLst/>
          </a:prstGeom>
          <a:solidFill>
            <a:srgbClr val="DDD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73368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Source : synthèses de consolidation/, points 1 à 8 ; rapports de livrables/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7336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5440680" cy="1024128"/>
          </a:xfrm>
          <a:prstGeom prst="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BAF7A"/>
                </a:solidFill>
                <a:latin typeface="Calibri"/>
              </a:rPr>
              <a:t>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75688"/>
            <a:ext cx="50749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Sur 10 000 avis en ligne, 6,6 disparaissent pendant les 14 jours de suivi.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691640"/>
            <a:ext cx="5440680" cy="1024128"/>
          </a:xfrm>
          <a:prstGeom prst="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78308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BAF7A"/>
                </a:solidFill>
                <a:latin typeface="Calibri"/>
              </a:rPr>
              <a:t>Concentration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075688"/>
            <a:ext cx="50749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20 fiches portent 29 % des suppressions d'avis publiés du 4 au 24 août et détiennent 2,3 % de ces avis.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25496"/>
            <a:ext cx="5440680" cy="1024128"/>
          </a:xfrm>
          <a:prstGeom prst="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916936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BAF7A"/>
                </a:solidFill>
                <a:latin typeface="Calibri"/>
              </a:rPr>
              <a:t>Âge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09544"/>
            <a:ext cx="50749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Sur 10 000 avis publiés en 2026, 42,9 disparaissent ; sur 10 000 avis de 2025, 5,1. Le 7e jour de l'avis est le plus risqué.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825496"/>
            <a:ext cx="5440680" cy="1024128"/>
          </a:xfrm>
          <a:prstGeom prst="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916936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BAF7A"/>
                </a:solidFill>
                <a:latin typeface="Calibri"/>
              </a:rPr>
              <a:t>Note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209544"/>
            <a:ext cx="50749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Dans une même fiche, un avis 1 étoile disparaît 5 fois plus qu'un avis 5 étoiles.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959352"/>
            <a:ext cx="5440680" cy="1024128"/>
          </a:xfrm>
          <a:prstGeom prst="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050791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BAF7A"/>
                </a:solidFill>
                <a:latin typeface="Calibri"/>
              </a:rPr>
              <a:t>Auteur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343400"/>
            <a:ext cx="50749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Un compte sans niveau Local Guide perd 1,6 fois plus d'avis. Un auteur à plus de 20 photos en perd 2,4 fois moins.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959352"/>
            <a:ext cx="5440680" cy="1024128"/>
          </a:xfrm>
          <a:prstGeom prst="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4050791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BAF7A"/>
                </a:solidFill>
                <a:latin typeface="Calibri"/>
              </a:rPr>
              <a:t>Secteur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343400"/>
            <a:ext cx="50749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Une fiche de services à domicile a 2 fois plus de chances de perdre un avis qu'une fiche automobile.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093208"/>
            <a:ext cx="5440680" cy="1024128"/>
          </a:xfrm>
          <a:prstGeom prst="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18464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BAF7A"/>
                </a:solidFill>
                <a:latin typeface="Calibri"/>
              </a:rPr>
              <a:t>Texte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77256"/>
            <a:ext cx="50749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Un avis recopié d'un autre est supprimé une fois sur deux. La longueur du texte et la photo jointe ne changent rien dans une même fiche.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5093208"/>
            <a:ext cx="5440680" cy="1024128"/>
          </a:xfrm>
          <a:prstGeom prst="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518464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BAF7A"/>
                </a:solidFill>
                <a:latin typeface="Calibri"/>
              </a:rPr>
              <a:t>Réponse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5477256"/>
            <a:ext cx="50749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Sur les fiches qui répondent à presque tout, l'avis répondu disparaît 3 à 5 fois moins. Les données ne disent pas si la réponse protège l'avis.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82296" cy="56692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8658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0B0B"/>
                </a:solidFill>
                <a:latin typeface="Calibri"/>
              </a:rPr>
              <a:t>Le corpus : 4,88 millions d'avis relevés chaque jour pendant 14 jours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8658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Un robot a relevé tous les avis de chaque fiche une fois par jour, du 11 au 24 août 2026.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291072"/>
            <a:ext cx="11094415" cy="9144"/>
          </a:xfrm>
          <a:prstGeom prst="rect">
            <a:avLst/>
          </a:prstGeom>
          <a:solidFill>
            <a:srgbClr val="DDD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73368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Source : 1a_tables.csv, 1b_entonnoir.csv — uv run python consolidation/1a_tables.py, 1b_entonnoir.py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7336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2651760" cy="1783080"/>
          </a:xfrm>
          <a:prstGeom prst="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9 048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286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fiches Google Maps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41 pays, 7 secteurs, 3 tailles d'entreprise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4992" y="1691640"/>
            <a:ext cx="2651760" cy="1783080"/>
          </a:xfrm>
          <a:prstGeom prst="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182880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4 876 933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514600"/>
            <a:ext cx="2286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avis dans la base complète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0175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2 627 609 aux États-Unis, 2 249 324 en Europe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1691640"/>
            <a:ext cx="2651760" cy="1783080"/>
          </a:xfrm>
          <a:prstGeom prst="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182880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4 590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2514600"/>
            <a:ext cx="2286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avis disparus pendant le suivi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30175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constatés du 12 au 24 août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97696" y="1691640"/>
            <a:ext cx="2651760" cy="1783080"/>
          </a:xfrm>
          <a:prstGeom prst="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0576" y="182880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Calibri"/>
              </a:rPr>
              <a:t>35 751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576" y="2514600"/>
            <a:ext cx="2286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avis publiés du 4 au 17 août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576" y="30175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2514E"/>
                </a:solidFill>
                <a:latin typeface="Calibri"/>
              </a:rPr>
              <a:t>le panel : 1 355 disparus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48640" y="3703320"/>
          <a:ext cx="667511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3285"/>
                <a:gridCol w="1271451"/>
                <a:gridCol w="1430382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 l'export à la base</a:t>
                      </a:r>
                    </a:p>
                  </a:txBody>
                  <a:tcPr anchor="ctr" marL="91440" marR="91440" marT="27432" marB="27432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Avis</a:t>
                      </a:r>
                    </a:p>
                  </a:txBody>
                  <a:tcPr anchor="ctr" marL="91440" marR="91440" marT="27432" marB="27432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Avis supprimés</a:t>
                      </a:r>
                    </a:p>
                  </a:txBody>
                  <a:tcPr anchor="ctr" marL="91440" marR="91440" marT="27432" marB="27432">
                    <a:solidFill>
                      <a:srgbClr val="0B0B0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Export brut, une ligne par avis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4 877 534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4 697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Sans les avis disparus puis revenus : la base complète</a:t>
                      </a:r>
                    </a:p>
                  </a:txBody>
                  <a:tcPr anchor="ctr" marL="91440" marR="91440" marT="27432" marB="27432"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4 876 933</a:t>
                      </a:r>
                    </a:p>
                  </a:txBody>
                  <a:tcPr anchor="ctr" marL="91440" marR="91440" marT="27432" marB="27432"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4 590</a:t>
                      </a:r>
                    </a:p>
                  </a:txBody>
                  <a:tcPr anchor="ctr" marL="91440" marR="91440" marT="27432" marB="27432">
                    <a:solidFill>
                      <a:srgbClr val="F1F0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Publiés du 4 au 17 août : le panel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35 751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1 355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7589520" y="3703320"/>
            <a:ext cx="4023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B0B0B"/>
                </a:solidFill>
                <a:latin typeface="Calibri"/>
              </a:rPr>
              <a:t>Deux populations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La base complète décrit les avis supprimés, quelle que soit leur date de publication.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Le panel compare des avis supprimés à des avis conservés publiés la même période.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Une suppression : le robot ne retrouve plus l'avis à un passage.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82296" cy="56692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8658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0B0B"/>
                </a:solidFill>
                <a:latin typeface="Calibri"/>
              </a:rPr>
              <a:t>Sur 10 000 avis en ligne, 9,4 disparaissent en 14 jours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8658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Base complète. Suppressions pour 10 000 avis, par année de publication de l'avis.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291072"/>
            <a:ext cx="11094415" cy="9144"/>
          </a:xfrm>
          <a:prstGeom prst="rect">
            <a:avLst/>
          </a:prstGeom>
          <a:solidFill>
            <a:srgbClr val="DDD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73368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Source : 2_1a_par_annee.csv, 1c_suppressions_secteur_region.csv — uv run python consolidation/2_1_peu_de_suppressions.py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7336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4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645920"/>
          <a:ext cx="63093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23760" y="1737360"/>
            <a:ext cx="438912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4 590 avis disparus sur 4 876 933 : 9,4 pour 10 000.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Sans les six enseignes : 3 067 sur 4 627 581, soit 6,6 pour 10 000.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États-Unis : 12,4 pour 10 000 (8,6 sans enseignes). Europe : 5,9 (4,5 sans enseignes).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3 067 des 4 590 suppressions portent sur des avis publiés en 2026, soit 67 % (1 968 sur 3 067 sans enseignes).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Avis publiés de 2016 à 2022 : de 1,2 à 2,5 suppressions pour 10 000.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Avis publiés avant 2014 : aucune suppression.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82296" cy="56692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8658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0B0B"/>
                </a:solidFill>
                <a:latin typeface="Calibri"/>
              </a:rPr>
              <a:t>Après le 8e jour, le rythme des suppressions est divisé par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8658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Avis publiés du 12 juillet au 24 août 2026 : 107 644 avis, 2 467 supprimés. Suppressions par jour pour 10 000 avis en ligne, selon l'âge de l'avis.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291072"/>
            <a:ext cx="11094415" cy="9144"/>
          </a:xfrm>
          <a:prstGeom prst="rect">
            <a:avLst/>
          </a:prstGeom>
          <a:solidFill>
            <a:srgbClr val="DDD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73368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Source : 2_1b_resume.csv, 2_1b_par_age.csv — uv run python consolidation/2_1_peu_de_suppressions.py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7336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5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737360"/>
          <a:ext cx="63093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23760" y="1783080"/>
            <a:ext cx="43891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Le rythme quotidien est divisé par 3,3 après le 8e jour (par 4,2 sans enseignes).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Le 7e jour de l'avis compte le plus de disparitions.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•  Sans enseignes, sur 10 000 avis, 285 disparaissent pendant les 8 premiers jours, puis 210 du 9e au 30e jour.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223760" y="4160520"/>
          <a:ext cx="4389118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7590"/>
                <a:gridCol w="860611"/>
                <a:gridCol w="1290917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Encore en ligne sur 10 000</a:t>
                      </a:r>
                    </a:p>
                  </a:txBody>
                  <a:tcPr anchor="ctr" marL="91440" marR="91440" marT="27432" marB="27432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Tous</a:t>
                      </a:r>
                    </a:p>
                  </a:txBody>
                  <a:tcPr anchor="ctr" marL="91440" marR="91440" marT="27432" marB="27432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Sans enseignes</a:t>
                      </a:r>
                    </a:p>
                  </a:txBody>
                  <a:tcPr anchor="ctr" marL="91440" marR="91440" marT="27432" marB="27432">
                    <a:solidFill>
                      <a:srgbClr val="0B0B0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au 8e jour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9 623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9 715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au 15e jour</a:t>
                      </a:r>
                    </a:p>
                  </a:txBody>
                  <a:tcPr anchor="ctr" marL="91440" marR="91440" marT="27432" marB="27432"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9 395</a:t>
                      </a:r>
                    </a:p>
                  </a:txBody>
                  <a:tcPr anchor="ctr" marL="91440" marR="91440" marT="27432" marB="27432"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9 605</a:t>
                      </a:r>
                    </a:p>
                  </a:txBody>
                  <a:tcPr anchor="ctr" marL="91440" marR="91440" marT="27432" marB="27432">
                    <a:solidFill>
                      <a:srgbClr val="F1F0E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au 30e jour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9 250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9 505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au 43e jour</a:t>
                      </a:r>
                    </a:p>
                  </a:txBody>
                  <a:tcPr anchor="ctr" marL="91440" marR="91440" marT="27432" marB="27432"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9 213</a:t>
                      </a:r>
                    </a:p>
                  </a:txBody>
                  <a:tcPr anchor="ctr" marL="91440" marR="91440" marT="27432" marB="27432"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9 470</a:t>
                      </a:r>
                    </a:p>
                  </a:txBody>
                  <a:tcPr anchor="ctr" marL="91440" marR="91440" marT="27432" marB="27432">
                    <a:solidFill>
                      <a:srgbClr val="F1F0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82296" cy="56692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8658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0B0B"/>
                </a:solidFill>
                <a:latin typeface="Calibri"/>
              </a:rPr>
              <a:t>Les suppressions se concentrent sur quelques fiches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8658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Avis publiés du 4 au 24 août 2026, sans les six enseignes. Les N fiches les plus touchées : leur part des suppressions, et leur part des avis, en %.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291072"/>
            <a:ext cx="11094415" cy="9144"/>
          </a:xfrm>
          <a:prstGeom prst="rect">
            <a:avLst/>
          </a:prstGeom>
          <a:solidFill>
            <a:srgbClr val="DDD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73368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Source : livrables/2. analyses-complémentaires.docx, chapitre 2 ; livrables/1. reviewflowz-resultats-propre.docx, chapitre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7336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737360"/>
          <a:ext cx="66751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89520" y="1783080"/>
            <a:ext cx="4023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•  50 923 avis publiés du 4 au 24 août sur 6 176 fiches ; 1 485 suppressions sur 422 fiches.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•  Sans enseignes, 16 fiches portent le quart des suppressions, 49 la moitié, 126 les trois quarts. Avec les enseignes : 17, 54 et 122.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•  Les 20 fiches les plus touchées portent 29,1 % des suppressions et détiennent 2,3 % des avis. Avec les enseignes : 28,1 % et 3,3 %.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•  Sur toute la base, le rapport compte 7 682 fiches sur 8 997 sans aucune suppression, soit 85,4 %.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82296" cy="56692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8658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0B0B"/>
                </a:solidFill>
                <a:latin typeface="Calibri"/>
              </a:rPr>
              <a:t>Six enseignes portent 26 % et 7 % des suppressions de la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8658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Base complète, suppressions constatées du 12 au 24 août 2026.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291072"/>
            <a:ext cx="11094415" cy="9144"/>
          </a:xfrm>
          <a:prstGeom prst="rect">
            <a:avLst/>
          </a:prstGeom>
          <a:solidFill>
            <a:srgbClr val="DDD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73368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Source : 2_2_resume.csv, 2_2_par_jour.csv, 2_2b_delai.csv — uv run python consolidation/2_2_deux_phenomenes.py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7336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5440680" cy="3749039"/>
          </a:xfrm>
          <a:prstGeom prst="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5440680" cy="7315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4 chaînes antiparasitaires américaines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50292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•  93 fiches, 247 938 avis, 1 194 supprimés.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•  5,1 % des avis de la base, 26 % de ses suppressions.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•  1 143 des 1 194 avis supprimés portent 5 étoiles (96 %).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•  290 sont supprimés 6 ou 7 jours après leur publication.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•  405 avis publiés avant le 4 août sont supprimés en deux jours, les 12 et 17 août.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•  EcoShield, Insight, Pointe, Bulwark.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691640"/>
            <a:ext cx="5440680" cy="3749039"/>
          </a:xfrm>
          <a:prstGeom prst="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691640"/>
            <a:ext cx="5440680" cy="7315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2 salles de sport espagnoles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68880"/>
            <a:ext cx="50292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•  2 fiches, 1 414 avis, 329 supprimés : 23 % de leurs avis.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•  0,03 % des avis de la base, 7 % de ses suppressions.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•  317 des 329 avis supprimés portent 1 étoile.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•  295 ont été publiés en deux jours, les 1er et 2 août.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•  Suppressions en trois vagues : 12 août, 16 août, 22 et 23 août.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•  Aucune suppression avant le 9e jour de l'avis.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6235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Ces 95 fiches sont retirées dans la version « sans enseignes » de chaque résultat. Les données ne disent pas qui a demandé ces suppressions.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82296" cy="56692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8658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0B0B"/>
                </a:solidFill>
                <a:latin typeface="Calibri"/>
              </a:rPr>
              <a:t>Des avis disparaissent puis reviennent, surtout dès le lendemain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8658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Avis disparus à un passage du robot puis revus ensuite. Avis revenus pour un million d'avis du secteur.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291072"/>
            <a:ext cx="11094415" cy="9144"/>
          </a:xfrm>
          <a:prstGeom prst="rect">
            <a:avLst/>
          </a:prstGeom>
          <a:solidFill>
            <a:srgbClr val="DDD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73368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Source : livrables/1. reviewflowz-resultats-propre.docx, chapitre 1 ; 1b_entonnoir.csv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7336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737360"/>
          <a:ext cx="63093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223760" y="1783080"/>
          <a:ext cx="4389119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3345"/>
                <a:gridCol w="1032734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Secteur</a:t>
                      </a:r>
                    </a:p>
                  </a:txBody>
                  <a:tcPr anchor="ctr" marL="91440" marR="91440" marT="27432" marB="27432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Avis revenus</a:t>
                      </a:r>
                    </a:p>
                  </a:txBody>
                  <a:tcPr anchor="ctr" marL="91440" marR="91440" marT="27432" marB="27432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dont dès le lendemain</a:t>
                      </a:r>
                    </a:p>
                  </a:txBody>
                  <a:tcPr anchor="ctr" marL="91440" marR="91440" marT="27432" marB="27432">
                    <a:solidFill>
                      <a:srgbClr val="0B0B0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Automobile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130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Services à domicile</a:t>
                      </a:r>
                    </a:p>
                  </a:txBody>
                  <a:tcPr anchor="ctr" marL="91440" marR="91440" marT="27432" marB="27432"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126</a:t>
                      </a:r>
                    </a:p>
                  </a:txBody>
                  <a:tcPr anchor="ctr" marL="91440" marR="91440" marT="27432" marB="27432"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89</a:t>
                      </a:r>
                    </a:p>
                  </a:txBody>
                  <a:tcPr anchor="ctr" marL="91440" marR="91440" marT="27432" marB="27432">
                    <a:solidFill>
                      <a:srgbClr val="F1F0E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Restauration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Santé</a:t>
                      </a:r>
                    </a:p>
                  </a:txBody>
                  <a:tcPr anchor="ctr" marL="91440" marR="91440" marT="27432" marB="27432"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89</a:t>
                      </a:r>
                    </a:p>
                  </a:txBody>
                  <a:tcPr anchor="ctr" marL="91440" marR="91440" marT="27432" marB="27432"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anchor="ctr" marL="91440" marR="91440" marT="27432" marB="27432">
                    <a:solidFill>
                      <a:srgbClr val="F1F0E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Sport et bien-être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Hôtellerie</a:t>
                      </a:r>
                    </a:p>
                  </a:txBody>
                  <a:tcPr anchor="ctr" marL="91440" marR="91440" marT="27432" marB="27432"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anchor="ctr" marL="91440" marR="91440" marT="27432" marB="27432"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anchor="ctr" marL="91440" marR="91440" marT="27432" marB="27432">
                    <a:solidFill>
                      <a:srgbClr val="F1F0E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Voyage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223760" y="4754880"/>
            <a:ext cx="4389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Un avis revenu ne compte pas comme une suppression : la base écarte les 601 avis qui ont disparu puis sont revenus.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Le rapport ne donne pas ce décompte sans les six enseignes.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82296" cy="56692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8658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0B0B"/>
                </a:solidFill>
                <a:latin typeface="Calibri"/>
              </a:rPr>
              <a:t>Les services à domicile américains sont le secteur le plus touché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8658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Base complète, sans les six enseignes. Suppressions pour 10 000 avis en 14 jours.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291072"/>
            <a:ext cx="11094415" cy="9144"/>
          </a:xfrm>
          <a:prstGeom prst="rect">
            <a:avLst/>
          </a:prstGeom>
          <a:solidFill>
            <a:srgbClr val="DDD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73368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Source : 1c_suppressions_secteur_region.csv — uv run python consolidation/1c_secteurs.py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7336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9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645920"/>
          <a:ext cx="658368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98079" y="1783080"/>
            <a:ext cx="41148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•  Services à domicile aux États-Unis : 24,7 suppressions pour 10 000 avis, 35,3 avec les 4 chaînes antiparasitaires.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•  Sport et bien-être en Europe : 6,5, et 16,8 avec les 2 salles espagnoles.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•  Hôtellerie et restauration : environ 3 pour 10 000 des deux côtés.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•  Ces taux directs comptent aussi la taille des fiches et leur pays. La diapositive suivante compare des fiches égales par ailleurs.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82296" cy="56692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8658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0B0B"/>
                </a:solidFill>
                <a:latin typeface="Calibri"/>
              </a:rPr>
              <a:t>Quelle fiche perd au moins un avis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8658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Panel : 1 890 fiches avec au moins 5 avis publiés du 4 au 17 août, dont 262 perdent un avis (1 813 et 214 sans enseignes). Chaque ligne compare des fiches égales par ailleurs.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291072"/>
            <a:ext cx="11094415" cy="9144"/>
          </a:xfrm>
          <a:prstGeom prst="rect">
            <a:avLst/>
          </a:prstGeom>
          <a:solidFill>
            <a:srgbClr val="DDD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73368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Source : 4a_effets.csv — uv run python consolidation/4a_quelle_fiche.py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7336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10</a:t>
            </a:r>
          </a:p>
        </p:txBody>
      </p:sp>
      <p:pic>
        <p:nvPicPr>
          <p:cNvPr id="8" name="Picture 7" descr="presentation_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27632"/>
            <a:ext cx="7406640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879592"/>
            <a:ext cx="7406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Point : l'écart mesuré. Trait : les valeurs compatibles avec les données. Vert : l'écart repose sur assez de suppressions et de fiches pour être cité. Gris : non.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33832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Une fiche de services à domicile a 2 fois plus de chances de perdre un avis qu'une fiche automobile. Avec les enseignes : 3 fois plus.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Une fiche qui reçoit 1 à 2 fois son rythme habituel d'avis a 1,9 fois plus de chances d'en perdre un (sans enseignes).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États-Unis : 1,4 fois plus avec les enseignes. Sans elles, le trait traverse ×1.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Taille, habitude de réponse, santé, hôtellerie, sport : les traits traversent ×1, les données ne tranchent pas.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Restauration et voyage, en gris : une seule fiche porte le quart ou plus de leurs suppressions.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82296" cy="56692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8658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0B0B"/>
                </a:solidFill>
                <a:latin typeface="Calibri"/>
              </a:rPr>
              <a:t>L'avis 1 étoile est le plus supprimé, aux États-Unis comme en Europe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8658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Panel : avis publiés du 4 au 17 août 2026. Suppressions pour 10 000 avis, par note.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291072"/>
            <a:ext cx="11094415" cy="9144"/>
          </a:xfrm>
          <a:prstGeom prst="rect">
            <a:avLst/>
          </a:prstGeom>
          <a:solidFill>
            <a:srgbClr val="DDD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73368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Source : 2_3_note.csv, 4b_effets.csv — uv run python consolidation/2_3_taux.py, 4b_quel_avis.py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7336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11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645920"/>
          <a:ext cx="3749039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343400" y="1645920"/>
          <a:ext cx="3749039" cy="4480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412480" y="1737360"/>
            <a:ext cx="320040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>
                <a:solidFill>
                  <a:srgbClr val="0B0B0B"/>
                </a:solidFill>
                <a:latin typeface="Calibri"/>
              </a:rPr>
              <a:t>Dans la même fiche, le même jour, face à un avis 5 étoiles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L'avis 1 étoile disparaît 5 fois plus (3,5 fois plus avec les enseignes).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L'avis 2 étoiles disparaît 2,8 fois plus (2,1 fois plus avec les enseignes).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L'avis 4 étoiles disparaît 1,8 fois moins, avec et sans les enseignes.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0B0B0B"/>
                </a:solidFill>
                <a:latin typeface="Calibri"/>
              </a:rPr>
              <a:t>États-Unis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L'avis 5 étoiles disparaît plus que l'avis 3 ou 4 étoiles, avec ou sans les chaînes.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82296" cy="56692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8658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0B0B"/>
                </a:solidFill>
                <a:latin typeface="Calibri"/>
              </a:rPr>
              <a:t>Quel avis tombe, dans une même fiche, le même jour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8658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Panel : 6 350 avis de 314 fiches, 1 314 suppressions (4 888 avis et 841 suppressions sans enseignes). Les avis comparés partagent la fiche, son secteur et son pays.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291072"/>
            <a:ext cx="11094415" cy="9144"/>
          </a:xfrm>
          <a:prstGeom prst="rect">
            <a:avLst/>
          </a:prstGeom>
          <a:solidFill>
            <a:srgbClr val="DDD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73368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Source : 4b_effets.csv — nice -n 19 uv run python consolidation/4b_quel_avis.py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7336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12</a:t>
            </a:r>
          </a:p>
        </p:txBody>
      </p:sp>
      <p:pic>
        <p:nvPicPr>
          <p:cNvPr id="8" name="Picture 7" descr="presentation_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27632"/>
            <a:ext cx="7406640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879592"/>
            <a:ext cx="7406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Point : l'écart mesuré. Trait : les valeurs compatibles avec les données. Vert : l'écart repose sur assez de suppressions et de fiches pour être cité. Gris : non.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33832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L'avis 1 étoile tombe 5 fois plus que l'avis 5 étoiles ; l'avis 4 étoiles, 1,8 fois moins.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L'avis d'un compte sans niveau Local Guide tombe 1,6 fois plus.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L'avis d'un auteur à plus de 20 photos tombe 2,4 fois moins.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Sur une fiche qui répond à plus de 75 % de ses avis, l'avis déjà répondu tombe 5 fois moins, avec et sans les enseignes.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3 étoiles sans enseignes, en gris : 9 suppressions.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Fiche qui répond à 75 % ou moins, sans enseignes, en gris : une fiche porte 35 % des suppressions.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82296" cy="56692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8658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0B0B"/>
                </a:solidFill>
                <a:latin typeface="Calibri"/>
              </a:rPr>
              <a:t>Auteur sans niveau Local Guide ou sans photo : l'avis disparaît plus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8658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Panel, sans les six enseignes. Suppressions pour 10 000 avis, selon le profil de l'auteur.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291072"/>
            <a:ext cx="11094415" cy="9144"/>
          </a:xfrm>
          <a:prstGeom prst="rect">
            <a:avLst/>
          </a:prstGeom>
          <a:solidFill>
            <a:srgbClr val="DDD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73368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Source : 2_3_local_guide.csv, 2_3_photos_auteur.csv, 4b_effets.csv — uv run python consolidation/2_3_taux.py, 4b_quel_avis.py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7336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13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645920"/>
          <a:ext cx="35661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160520" y="1645920"/>
          <a:ext cx="4206240" cy="4480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595360" y="1737360"/>
            <a:ext cx="301752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0B0B0B"/>
                </a:solidFill>
                <a:latin typeface="Calibri"/>
              </a:rPr>
              <a:t>Avec les enseignes, pour 10 000 avis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Sans niveau : 777 aux États-Unis, 601 en Europe. Niveau 5 et plus : 198 et 97.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Aucune photo : 611 et 233. Plus de 100 photos : 98 et 69.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0B0B0B"/>
                </a:solidFill>
                <a:latin typeface="Calibri"/>
              </a:rPr>
              <a:t>Dans la même fiche, le même jour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Sans niveau Local Guide : 1,6 fois plus qu'au niveau 1 à 4 (1,5 avec les enseignes).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Plus de 20 photos : 2,4 fois moins qu'un auteur sans photo, avec et sans les enseignes.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2 à 20 avis déclarés : 1,3 fois moins qu'un auteur à 1 avis, sans enseignes.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82296" cy="56692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8658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0B0B"/>
                </a:solidFill>
                <a:latin typeface="Calibri"/>
              </a:rPr>
              <a:t>Photo jointe et longueur du texte : aucun écart dans une même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8658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À gauche, panel du 4 au 17 août : suppressions pour 10 000 avis, tous / sans enseignes. À droite, les avis d'une même fiche comparés le même jour.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291072"/>
            <a:ext cx="11094415" cy="9144"/>
          </a:xfrm>
          <a:prstGeom prst="rect">
            <a:avLst/>
          </a:prstGeom>
          <a:solidFill>
            <a:srgbClr val="DDD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73368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Source : 2_3_photo_jointe.csv, 2_3_texte.csv, 2_3_longueur_texte.csv, 4b_effets.csv, 8_effets.csv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7336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37360"/>
          <a:ext cx="512063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79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Pour 10 000 avis (tous / sans enseignes)</a:t>
                      </a:r>
                    </a:p>
                  </a:txBody>
                  <a:tcPr anchor="ctr" marL="91440" marR="91440" marT="27432" marB="27432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États-Unis</a:t>
                      </a:r>
                    </a:p>
                  </a:txBody>
                  <a:tcPr anchor="ctr" marL="91440" marR="91440" marT="27432" marB="27432"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Europe</a:t>
                      </a:r>
                    </a:p>
                  </a:txBody>
                  <a:tcPr anchor="ctr" marL="91440" marR="91440" marT="27432" marB="27432">
                    <a:solidFill>
                      <a:srgbClr val="0B0B0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avec photo jointe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280 / 265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186 / 186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sans photo jointe</a:t>
                      </a:r>
                    </a:p>
                  </a:txBody>
                  <a:tcPr anchor="ctr" marL="91440" marR="91440" marT="27432" marB="27432"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547 / 346</a:t>
                      </a:r>
                    </a:p>
                  </a:txBody>
                  <a:tcPr anchor="ctr" marL="91440" marR="91440" marT="27432" marB="27432"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194 / 178</a:t>
                      </a:r>
                    </a:p>
                  </a:txBody>
                  <a:tcPr anchor="ctr" marL="91440" marR="91440" marT="27432" marB="27432">
                    <a:solidFill>
                      <a:srgbClr val="F1F0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avec texte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514 / 348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216 / 211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sans texte</a:t>
                      </a:r>
                    </a:p>
                  </a:txBody>
                  <a:tcPr anchor="ctr" marL="91440" marR="91440" marT="27432" marB="27432"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568 / 311</a:t>
                      </a:r>
                    </a:p>
                  </a:txBody>
                  <a:tcPr anchor="ctr" marL="91440" marR="91440" marT="27432" marB="27432"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140 / 106</a:t>
                      </a:r>
                    </a:p>
                  </a:txBody>
                  <a:tcPr anchor="ctr" marL="91440" marR="91440" marT="27432" marB="27432">
                    <a:solidFill>
                      <a:srgbClr val="F1F0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texte de 1 à 50 caractères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517 / 329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185 / 175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texte de 51 à 200 caractères</a:t>
                      </a:r>
                    </a:p>
                  </a:txBody>
                  <a:tcPr anchor="ctr" marL="91440" marR="91440" marT="27432" marB="27432"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502 / 317</a:t>
                      </a:r>
                    </a:p>
                  </a:txBody>
                  <a:tcPr anchor="ctr" marL="91440" marR="91440" marT="27432" marB="27432"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204 / 197</a:t>
                      </a:r>
                    </a:p>
                  </a:txBody>
                  <a:tcPr anchor="ctr" marL="91440" marR="91440" marT="27432" marB="27432">
                    <a:solidFill>
                      <a:srgbClr val="F1F0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texte de plus de 200 caractères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531 / 403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240 / 238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846320"/>
            <a:ext cx="5120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•  Dans une même fiche, tous les traits traversent ×1.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•  Sur les avis publiés avant le 4 août, sans enseignes, un avis avec texte disparaît 1,3 à 1,4 fois plus qu'un avis sans texte. Avec les enseignes, les données ne tranchent pas.</a:t>
            </a:r>
          </a:p>
        </p:txBody>
      </p:sp>
      <p:pic>
        <p:nvPicPr>
          <p:cNvPr id="10" name="Picture 9" descr="presentation_photo_tex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91640"/>
            <a:ext cx="5669280" cy="3291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0" y="5120640"/>
            <a:ext cx="5669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Point : l'écart mesuré. Trait : les valeurs compatibles avec les données. Vert : l'écart repose sur assez de suppressions et de fiches pour être cité. Gris : non.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82296" cy="56692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8658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0B0B"/>
                </a:solidFill>
                <a:latin typeface="Calibri"/>
              </a:rPr>
              <a:t>Le sujet du texte suit le secteur de la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8658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Avis américains en anglais du panel, sans les six enseignes, rangés en groupes de textes proches. Suppressions constatées, et suppressions attendues d'après le secteur de chaque avis.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291072"/>
            <a:ext cx="11094415" cy="9144"/>
          </a:xfrm>
          <a:prstGeom prst="rect">
            <a:avLst/>
          </a:prstGeom>
          <a:solidFill>
            <a:srgbClr val="DDD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73368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Source : livrables/2. analyses-complémentaires.docx, chapitre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7336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15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783080"/>
          <a:ext cx="694944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863840" y="1828800"/>
            <a:ext cx="3749039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950 avis 1 étoile, dont 83 supprimés ; 11 019 avis 5 étoiles, dont 349 supprimés.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Chaque groupe compte à peu près les suppressions attendues d'après ses secteurs.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Part supprimée en 1 étoile : de 5,9 % (restaurant et hôtel) à 11,2 % (voiture). En 5 étoiles : de 1,9 % (loisirs, séjours) à 3,8 % (récit détaillé).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Avec les enseignes, le groupe « récit détaillé » en 5 étoiles compte 281 suppressions pour 298 attendues.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En 1 étoile, trois groupes sur quatre reposent sur 13 à 16 suppressions, dont jusqu'à 38 % sur une seule fiche.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82296" cy="56692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8658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0B0B"/>
                </a:solidFill>
                <a:latin typeface="Calibri"/>
              </a:rPr>
              <a:t>Un avis recopié d'un autre est supprimé une fois sur deux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8658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Panel : 26 168 avis avec texte. Chaque texte d'au moins 80 caractères est comparé au texte le plus proche parmi les autres. Part des avis supprimés, en %.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291072"/>
            <a:ext cx="11094415" cy="9144"/>
          </a:xfrm>
          <a:prstGeom prst="rect">
            <a:avLst/>
          </a:prstGeom>
          <a:solidFill>
            <a:srgbClr val="DDD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73368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Source : livrables/3. embeddings_further.docx, chapitre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7336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16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783080"/>
          <a:ext cx="603504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949440" y="1828800"/>
            <a:ext cx="466344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Sans enseignes : 21 copies supprimées sur 42, 16 quasi-copies sur 82, et 403 avis sur 14 927 sans texte proche.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Comparée aux autres avis de sa fiche, une copie est supprimée 6 fois plus et une quasi-copie 3,4 fois plus. Sans enseignes : 13 fois et 3,2 fois, sur 17 et 15 suppressions.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Deux avis différents sur le même sujet : aucun écart avec le reste de la fiche.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Sur 68 paires de textes jumeaux sans enseignes, 12 perdent les deux avis, 11 le second publié seul, 5 le premier seul.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Volume : 149 copies et quasi-copies sur 26 168 avis, pour 57 suppressions.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82296" cy="56692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8658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0B0B"/>
                </a:solidFill>
                <a:latin typeface="Calibri"/>
              </a:rPr>
              <a:t>Citer un prénom dans un avis 5 étoiles va avec plus de suppressions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8658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Panel. Suppressions pour 10 000 avis, selon que le texte cite ou non un prénom, à note égale.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291072"/>
            <a:ext cx="11094415" cy="9144"/>
          </a:xfrm>
          <a:prstGeom prst="rect">
            <a:avLst/>
          </a:prstGeom>
          <a:solidFill>
            <a:srgbClr val="DDD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73368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Source : livrables/1. reviewflowz-resultats-propre.docx, chapitre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7336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17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737360"/>
          <a:ext cx="63093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23760" y="1783080"/>
            <a:ext cx="438912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•  5 étoiles, sans enseignes : 154 avis supprimés sur 3 976 avec prénom, 219 sur 8 066 sans prénom. L'avis avec prénom disparaît 1,4 fois plus.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•  1 étoile, sans enseignes : 16 sur 209 avec prénom, 73 sur 905 sans. Aucun écart.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•  5 étoiles, avec les enseignes : 287 sur 4 694 avec prénom, 381 sur 9 024 sans. 1,4 fois plus.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•  Ce sont des taux directs à note égale. Le secteur et la fiche ne sont pas tenus égaux, et aucune fourchette n'est calculée.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82296" cy="56692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8658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0B0B"/>
                </a:solidFill>
                <a:latin typeface="Calibri"/>
              </a:rPr>
              <a:t>Fiches qui répondent à presque tout : l'avis répondu disparaît moins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8658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Fiches dont plus de 75 % des avis de l'année précédente ont une réponse. Avis répondu comparé à l'avis sans réponse du même âge.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291072"/>
            <a:ext cx="11094415" cy="9144"/>
          </a:xfrm>
          <a:prstGeom prst="rect">
            <a:avLst/>
          </a:prstGeom>
          <a:solidFill>
            <a:srgbClr val="DDD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73368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Source : 5_effets.csv, 4b_effets.csv, 8_effets.csv — uv run python consolidation/5_reponse_jour_par_jour.py, 4b_quel_avis.py, 8_regression_reponse_base.py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7336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18</a:t>
            </a:r>
          </a:p>
        </p:txBody>
      </p:sp>
      <p:pic>
        <p:nvPicPr>
          <p:cNvPr id="8" name="Picture 7" descr="presentation_reponse_plus_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27632"/>
            <a:ext cx="7406640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879592"/>
            <a:ext cx="7406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Point : l'écart mesuré. Trait : les valeurs compatibles avec les données. Vert : l'écart repose sur assez de suppressions et de fiches pour être cité. Gris : non.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33832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•  Avis répondu le jour même ou le lendemain : il disparaît 3 fois moins sur les entreprises de 1 à 10 établissements, 4 fois moins sur celles de 20 à 50 (sans enseignes).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•  Dans la même fiche, le même jour : 5 fois moins, avec et sans les enseignes.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•  Avis de 91 jours à un an : 4 fois moins (3,6 fois moins avec les enseignes).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•  Avis de 8 à 30 jours et de plus d'un an : le trait traverse ×1. Avec les enseignes, l'avis répondu de plus d'un an disparaît 1,4 fois plus.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•  Avec les enseignes, réponse le jour même sur 20 à 50 établissements : le trait traverse ×1. Les 4 chaînes répondent le jour même et perdent beaucoup d'avis.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•  31 à 90 jours, en gris : une fiche porte 6 des 18 suppressions d'avis sans réponse (cid 13197914448513377771).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82296" cy="56692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8658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0B0B"/>
                </a:solidFill>
                <a:latin typeface="Calibri"/>
              </a:rPr>
              <a:t>Fiches qui répondent moins : aucune protection 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8658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Fiches dont 75 % ou moins des avis de l'année précédente ont une réponse. Avis répondu comparé à l'avis sans réponse du même âge.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291072"/>
            <a:ext cx="11094415" cy="9144"/>
          </a:xfrm>
          <a:prstGeom prst="rect">
            <a:avLst/>
          </a:prstGeom>
          <a:solidFill>
            <a:srgbClr val="DDD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73368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Source : 8_effets.csv, 5_effets.csv, 5_fiches_par_case.csv, 4b_effets.csv — uv run python consolidation/8_regression_reponse_base.py, 5_reponse_jour_par_jour.py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7336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19</a:t>
            </a:r>
          </a:p>
        </p:txBody>
      </p:sp>
      <p:pic>
        <p:nvPicPr>
          <p:cNvPr id="8" name="Picture 7" descr="presentation_reponse_moins_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27632"/>
            <a:ext cx="7406640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879592"/>
            <a:ext cx="7406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Point : l'écart mesuré. Trait : les valeurs compatibles avec les données. Vert : l'écart repose sur assez de suppressions et de fiches pour être cité. Gris : non.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3383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•  Sans enseignes, tous les points verts ont un trait qui traverse ×1.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•  Dans la même fiche, avec les enseignes, l'avis répondu tombe 2,4 fois moins. Sans elles, le point est gris : une fiche porte 35 % des suppressions.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3429000"/>
            <a:ext cx="3383280" cy="2697480"/>
          </a:xfrm>
          <a:prstGeom prst="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352044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B0B0B"/>
                </a:solidFill>
                <a:latin typeface="Calibri"/>
              </a:rPr>
              <a:t>« Répondre sur une fiche qui répond peu augmente le risque » : non établi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4069080"/>
            <a:ext cx="31089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•  Première ligne du schéma : le point est à droite de ×1, en gris.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•  Il repose sur 24 suppressions portées par 6 fiches.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•  18 des 24 viennent de Cedar Park Overhead Doors, services à domicile, États-Unis (cid 10505273405281271038), supprimées du 13 au 22 août.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82296" cy="56692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8658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0B0B"/>
                </a:solidFill>
                <a:latin typeface="Calibri"/>
              </a:rPr>
              <a:t>Ce que les données ne permettent pas de dire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91072"/>
            <a:ext cx="11094415" cy="9144"/>
          </a:xfrm>
          <a:prstGeom prst="rect">
            <a:avLst/>
          </a:prstGeom>
          <a:solidFill>
            <a:srgbClr val="DDD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73368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Source : réserves de 1_corpus.md, 2_2_deux_phenomenes.md, 4_quelle_fiche_quel_avis.md, 8_regression_reponse_base.md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37336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40680" cy="1481328"/>
          </a:xfrm>
          <a:prstGeom prst="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0817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B6834"/>
                </a:solidFill>
                <a:latin typeface="Calibri"/>
              </a:rPr>
              <a:t>Qui demande la suppression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5074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Les signalements sont invisibles. Pour la réponse, deux lectures restent possibles : la réponse protège l'avis, ou le propriétaire s'abstient de répondre aux avis qu'il signale.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280160"/>
            <a:ext cx="5440680" cy="1481328"/>
          </a:xfrm>
          <a:prstGeom prst="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08176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B6834"/>
                </a:solidFill>
                <a:latin typeface="Calibri"/>
              </a:rPr>
              <a:t>Avant le 11 août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737360"/>
            <a:ext cx="5074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Le suivi dure 14 jours. Un avis supprimé avant le premier passage du robot est absent de la base.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07791"/>
            <a:ext cx="5440680" cy="1481328"/>
          </a:xfrm>
          <a:prstGeom prst="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3580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B6834"/>
                </a:solidFill>
                <a:latin typeface="Calibri"/>
              </a:rPr>
              <a:t>Réponses retirées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64991"/>
            <a:ext cx="5074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Une réponse retirée par le propriétaire ne laisse aucune trace : l'avis compte « sans réponse ».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2907791"/>
            <a:ext cx="5440680" cy="1481328"/>
          </a:xfrm>
          <a:prstGeom prst="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03580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B6834"/>
                </a:solidFill>
                <a:latin typeface="Calibri"/>
              </a:rPr>
              <a:t>Avis réécrits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364991"/>
            <a:ext cx="5074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La base contient 125 253 avis modifiés plus d'un an après leur publication, dont 555 supprimés. Leur âge se compte depuis la publication : ils sont rangés avec les avis de plus d'un an.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535424"/>
            <a:ext cx="5440680" cy="1481328"/>
          </a:xfrm>
          <a:prstGeom prst="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6634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B6834"/>
                </a:solidFill>
                <a:latin typeface="Calibri"/>
              </a:rPr>
              <a:t>Europe, par fiche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92624"/>
            <a:ext cx="5074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Aucun écart de secteur, de taille ou d'afflux entre fiches ne se cite : les cases de comparaison ne passent pas la règle de citation.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4535424"/>
            <a:ext cx="5440680" cy="1481328"/>
          </a:xfrm>
          <a:prstGeom prst="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6634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B6834"/>
                </a:solidFill>
                <a:latin typeface="Calibri"/>
              </a:rPr>
              <a:t>Texte, copies, prénom, avis revenus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992624"/>
            <a:ext cx="5074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Ces quatre résultats viennent des rapports, calculés avant la consolidation. Leurs décomptes peuvent différer de ceux des autres diapositives.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82296" cy="56692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8658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0B0B"/>
                </a:solidFill>
                <a:latin typeface="Calibri"/>
              </a:rPr>
              <a:t>Comment lire les schémas à 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91072"/>
            <a:ext cx="11094415" cy="9144"/>
          </a:xfrm>
          <a:prstGeom prst="rect">
            <a:avLst/>
          </a:prstGeom>
          <a:solidFill>
            <a:srgbClr val="DDD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73368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Source : 4b_effets.csv, 8_effets.csv, 5_effets.csv, commun.py (règle de citation), 2_3_note.csv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37336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21</a:t>
            </a:r>
          </a:p>
        </p:txBody>
      </p:sp>
      <p:pic>
        <p:nvPicPr>
          <p:cNvPr id="7" name="Picture 6" descr="presentation_l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486400" cy="2651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206240"/>
            <a:ext cx="54864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Ligne 1 : le point est à ×5, le trait entier est à droite de ×1. L'avis 1 étoile disparaît 5 fois plus.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Ligne 2 : le trait traverse ×1. Les données ne disent pas si l'écart existe.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Ligne 3 : point gris. 18 des 24 suppressions viennent d'une seule fiche.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280160"/>
            <a:ext cx="5120640" cy="1115568"/>
          </a:xfrm>
          <a:prstGeom prst="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37160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BAF7A"/>
                </a:solidFill>
                <a:latin typeface="Calibri"/>
              </a:rPr>
              <a:t>Le trait vertical à ×1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691639"/>
            <a:ext cx="4754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Sur ce trait, aucun écart. À droite, l'avis disparaît plus ; à gauche, moins.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×2 : deux fois plus. ×0,5 : deux fois moins.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2505456"/>
            <a:ext cx="5120640" cy="1115568"/>
          </a:xfrm>
          <a:prstGeom prst="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596896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BAF7A"/>
                </a:solidFill>
                <a:latin typeface="Calibri"/>
              </a:rPr>
              <a:t>Le trait horizontal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916936"/>
            <a:ext cx="4754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Les valeurs compatibles avec les données. Plus il est court, plus la mesure est précise.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730752"/>
            <a:ext cx="5120640" cy="1115568"/>
          </a:xfrm>
          <a:prstGeom prst="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822191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BAF7A"/>
                </a:solidFill>
                <a:latin typeface="Calibri"/>
              </a:rPr>
              <a:t>Vert ou gris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142232"/>
            <a:ext cx="4754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Vert : au moins 10 suppressions, sur au moins 5 fiches, sans qu'une fiche en porte plus du quart. Gris : l'une de ces conditions manque.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4956048"/>
            <a:ext cx="5120640" cy="1115568"/>
          </a:xfrm>
          <a:prstGeom prst="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504748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BAF7A"/>
                </a:solidFill>
                <a:latin typeface="Calibri"/>
              </a:rPr>
              <a:t>Égal par ailleurs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367528"/>
            <a:ext cx="4754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Aux États-Unis, 529 avis 5 étoiles sur 10 000 disparaissent ; 320 sans les 4 chaînes. Les schémas comparent des avis qui ne diffèrent que par une caractéristique.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82296" cy="56692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8658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B0B0B"/>
                </a:solidFill>
                <a:latin typeface="Calibri"/>
              </a:rPr>
              <a:t>Reste à faire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91072"/>
            <a:ext cx="11094415" cy="9144"/>
          </a:xfrm>
          <a:prstGeom prst="rect">
            <a:avLst/>
          </a:prstGeom>
          <a:solidFill>
            <a:srgbClr val="DDD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73368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Source : 6_plan_regression_panel.md, 8_regression_reponse_base.md, README.md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37336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2514E"/>
                </a:solidFill>
                <a:latin typeface="Calibr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67665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>
                <a:solidFill>
                  <a:srgbClr val="0B0B0B"/>
                </a:solidFill>
                <a:latin typeface="Calibri"/>
              </a:rPr>
              <a:t>Toutes les caractéristiques ensemble, sur le panel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Un seul calcul qui tient égales la note, l'auteur, le secteur, l'âge et la réponse. Le plan et ses 9 questions sont écrits ; la première à trancher : sur quels avis.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0B0B0B"/>
                </a:solidFill>
                <a:latin typeface="Calibri"/>
              </a:rPr>
              <a:t>Le texte : copies, sujet, prénom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Ces résultats viennent des rapports. Ils restent à refaire sur la base consolidée, avec la règle de citation.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0B0B0B"/>
                </a:solidFill>
                <a:latin typeface="Calibri"/>
              </a:rPr>
              <a:t>L'âge tenu plus finement de 8 à 30 jours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Dans cette tranche, le risque passe de 25 à 4 suppressions pour 10 000 avis entre le 8e et le 30e jour. L'écart lié à la réponse peut en compter une partie.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371600"/>
            <a:ext cx="3931920" cy="4480560"/>
          </a:xfrm>
          <a:prstGeom prst="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554480"/>
            <a:ext cx="347472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1">
                <a:solidFill>
                  <a:srgbClr val="0B0B0B"/>
                </a:solidFill>
                <a:latin typeface="Calibri"/>
              </a:rPr>
              <a:t>Régénérer les chiffres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Un script par point dans consolidation/, moins d'une minute chacun.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Chaque script écrit ses CSV dans consolidation/sorties/. Les schémas à points de cette présentation lisent ces CSV.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La liste des commandes et des CSV : consolidation/README.md.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Cette présentation : uv run --with python-pptx python consolidation/presentation.py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